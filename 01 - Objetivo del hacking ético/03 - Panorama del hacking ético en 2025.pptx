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96884-B5D9-4726-8600-5CCC9BC59747}" type="datetimeFigureOut">
              <a:rPr lang="es-MX" smtClean="0"/>
              <a:t>12/12/2025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91AF7-C343-4634-80C2-D4E9DD1023C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51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58056613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758056613b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3758056613b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58056613b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58056613b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419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58056613b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758056613b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58056613b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58056613b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58056613b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58056613b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58056613b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758056613b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3758056613b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58056613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758056613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3758056613b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58056613b_2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g3758056613b_2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g3758056613b_2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58056613b_2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g3758056613b_2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758056613b_2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758056613b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758056613b_2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Las pruebas de penetración implican mucho más que simplemente hackear la red de un cliente.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Un enfoque aleatorio dará como resultado resultados aleatorios.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Es importante seguir métodos y estándares reconocidos para abordar las pruebas de penetración de forma organizada y sistemática.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Es importante comprender las principales metodologías y estándares documentados para poder crear estrategias que aprovechen sus fortalezas.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Documentar su enfoque con las metodologías y estándares utilizados también proporciona responsabilidad a nuestra empresa y ayuda a que nuestros resultados sean defendibles en caso de que surjan problemas con nuestros clientes.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El proceso de completar una prueba de penetración varía en función de muchos factores.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Las herramientas y técnicas utilizadas para evaluar la seguridad de una red o sistema también varían.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Las redes y los sistemas que se evalúan suelen ser muy complejos.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Por ello, es muy fácil salirse del alcance de una prueba de penetración.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/>
              <a:t>Aquí es donde entran en juego las metodologías de prueba.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758056613b_2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-419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ítulo de tema">
  <p:cSld name="5 Título de tema">
    <p:bg>
      <p:bgPr>
        <a:solidFill>
          <a:srgbClr val="0BF49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1349417" y="1802838"/>
            <a:ext cx="9493167" cy="325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700"/>
              <a:buFont typeface="IBM Plex Sans Medium"/>
              <a:buNone/>
              <a:defRPr sz="62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627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Fondo Blanco ">
  <p:cSld name="2 Fondo Blanco 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311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Titulo-curso">
  <p:cSld name="1 Titulo-curso">
    <p:bg>
      <p:bgPr>
        <a:solidFill>
          <a:srgbClr val="0A0C0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>
            <a:spLocks noGrp="1"/>
          </p:cNvSpPr>
          <p:nvPr>
            <p:ph type="ctrTitle"/>
          </p:nvPr>
        </p:nvSpPr>
        <p:spPr>
          <a:xfrm>
            <a:off x="1817649" y="2087114"/>
            <a:ext cx="8559315" cy="186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F491"/>
              </a:buClr>
              <a:buSzPts val="5600"/>
              <a:buFont typeface="IBM Plex Sans Medium"/>
              <a:buNone/>
              <a:defRPr sz="7466" b="0" i="0" u="none" strike="noStrike" cap="none">
                <a:solidFill>
                  <a:srgbClr val="0BF49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2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title" idx="2"/>
          </p:nvPr>
        </p:nvSpPr>
        <p:spPr>
          <a:xfrm>
            <a:off x="2525915" y="4466499"/>
            <a:ext cx="6878008" cy="412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Light"/>
              <a:buNone/>
              <a:defRPr sz="3467" b="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729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orient="horz" pos="2937">
          <p15:clr>
            <a:srgbClr val="FA7B17"/>
          </p15:clr>
        </p15:guide>
        <p15:guide id="4" pos="535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itulo de la clase">
  <p:cSld name="4 Titulo de la clase">
    <p:bg>
      <p:bgPr>
        <a:solidFill>
          <a:srgbClr val="0A0C0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subTitle" idx="1"/>
          </p:nvPr>
        </p:nvSpPr>
        <p:spPr>
          <a:xfrm>
            <a:off x="2440716" y="4710970"/>
            <a:ext cx="7310568" cy="78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BM Plex Sans Light"/>
              <a:buNone/>
              <a:defRPr i="0" u="none" strike="noStrike" cap="none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None/>
              <a:defRPr sz="24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IBM Plex Sans"/>
              <a:buNone/>
              <a:defRPr sz="2133" i="0" u="none" strike="noStrike" cap="none">
                <a:solidFill>
                  <a:srgbClr val="00B0F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ctrTitle"/>
          </p:nvPr>
        </p:nvSpPr>
        <p:spPr>
          <a:xfrm>
            <a:off x="1349417" y="1358666"/>
            <a:ext cx="9493167" cy="325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F491"/>
              </a:buClr>
              <a:buSzPts val="5100"/>
              <a:buFont typeface="IBM Plex Sans Medium"/>
              <a:buNone/>
              <a:defRPr sz="6800" b="0" i="0" u="none" strike="noStrike" cap="none">
                <a:solidFill>
                  <a:srgbClr val="0BF49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475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pos="5357">
          <p15:clr>
            <a:srgbClr val="FA7B17"/>
          </p15:clr>
        </p15:guide>
        <p15:guide id="3" orient="horz" pos="303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ítulo de tema 1">
  <p:cSld name="5 Título de tema 1">
    <p:bg>
      <p:bgPr>
        <a:solidFill>
          <a:srgbClr val="F3F3F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ctrTitle"/>
          </p:nvPr>
        </p:nvSpPr>
        <p:spPr>
          <a:xfrm>
            <a:off x="1349417" y="1802838"/>
            <a:ext cx="9493167" cy="325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700"/>
              <a:buFont typeface="IBM Plex Sans Medium"/>
              <a:buNone/>
              <a:defRPr sz="62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082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Titulo y frase ">
  <p:cSld name="9 Titulo y frase 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subTitle" idx="1"/>
          </p:nvPr>
        </p:nvSpPr>
        <p:spPr>
          <a:xfrm>
            <a:off x="4696530" y="640436"/>
            <a:ext cx="6641556" cy="557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17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"/>
              <a:buNone/>
              <a:defRPr sz="24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IBM Plex Sans"/>
              <a:buNone/>
              <a:defRPr sz="2133" i="0" u="none" strike="noStrike" cap="none">
                <a:solidFill>
                  <a:srgbClr val="00B0F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"/>
              <a:buNone/>
              <a:defRPr sz="2000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53915" y="2220678"/>
            <a:ext cx="3597199" cy="262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7" name="Google Shape;67;p19"/>
          <p:cNvSpPr/>
          <p:nvPr/>
        </p:nvSpPr>
        <p:spPr>
          <a:xfrm>
            <a:off x="11785589" y="-7261"/>
            <a:ext cx="406412" cy="6865215"/>
          </a:xfrm>
          <a:prstGeom prst="rect">
            <a:avLst/>
          </a:prstGeom>
          <a:solidFill>
            <a:srgbClr val="08F491"/>
          </a:solidFill>
          <a:ln>
            <a:noFill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7227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pos="2103">
          <p15:clr>
            <a:srgbClr val="E46962"/>
          </p15:clr>
        </p15:guide>
        <p15:guide id="6" pos="221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Titulo y frase  1">
  <p:cSld name="9 Titulo y frase  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53915" y="2220678"/>
            <a:ext cx="3597199" cy="262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75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pos="2103">
          <p15:clr>
            <a:srgbClr val="E46962"/>
          </p15:clr>
        </p15:guide>
        <p15:guide id="6" pos="2219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Titulo e íconos">
  <p:cSld name="14 Titulo e ícono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53915" y="698615"/>
            <a:ext cx="10484171" cy="110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subTitle" idx="1"/>
          </p:nvPr>
        </p:nvSpPr>
        <p:spPr>
          <a:xfrm>
            <a:off x="1457542" y="4650678"/>
            <a:ext cx="4361463" cy="93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3" name="Google Shape;73;p21"/>
          <p:cNvSpPr/>
          <p:nvPr/>
        </p:nvSpPr>
        <p:spPr>
          <a:xfrm>
            <a:off x="2395019" y="2548145"/>
            <a:ext cx="2486661" cy="1864996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1"/>
          <p:cNvSpPr txBox="1"/>
          <p:nvPr/>
        </p:nvSpPr>
        <p:spPr>
          <a:xfrm>
            <a:off x="2872951" y="3260171"/>
            <a:ext cx="1530771" cy="44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67" tIns="104367" rIns="104367" bIns="104367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800" b="0" i="0" u="none" strike="noStrike" cap="none">
                <a:solidFill>
                  <a:srgbClr val="B7B7B7"/>
                </a:solidFill>
                <a:latin typeface="IBM Plex Sans"/>
                <a:ea typeface="IBM Plex Sans"/>
                <a:cs typeface="IBM Plex Sans"/>
                <a:sym typeface="IBM Plex Sans"/>
              </a:rPr>
              <a:t>Ícono</a:t>
            </a:r>
            <a:endParaRPr sz="2800" b="0" i="0" u="none" strike="noStrike" cap="none">
              <a:solidFill>
                <a:srgbClr val="B7B7B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21"/>
          <p:cNvSpPr txBox="1">
            <a:spLocks noGrp="1"/>
          </p:cNvSpPr>
          <p:nvPr>
            <p:ph type="subTitle" idx="2"/>
          </p:nvPr>
        </p:nvSpPr>
        <p:spPr>
          <a:xfrm>
            <a:off x="6372998" y="4650678"/>
            <a:ext cx="4361463" cy="93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6" name="Google Shape;76;p21"/>
          <p:cNvSpPr/>
          <p:nvPr/>
        </p:nvSpPr>
        <p:spPr>
          <a:xfrm>
            <a:off x="7310443" y="2548145"/>
            <a:ext cx="2486661" cy="1864996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1"/>
          <p:cNvSpPr txBox="1"/>
          <p:nvPr/>
        </p:nvSpPr>
        <p:spPr>
          <a:xfrm>
            <a:off x="7788375" y="3260171"/>
            <a:ext cx="1530771" cy="44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67" tIns="104367" rIns="104367" bIns="104367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800" b="0" i="0" u="none" strike="noStrike" cap="none">
                <a:solidFill>
                  <a:srgbClr val="B7B7B7"/>
                </a:solidFill>
                <a:latin typeface="IBM Plex Sans"/>
                <a:ea typeface="IBM Plex Sans"/>
                <a:cs typeface="IBM Plex Sans"/>
                <a:sym typeface="IBM Plex Sans"/>
              </a:rPr>
              <a:t>Ícono</a:t>
            </a:r>
            <a:endParaRPr sz="2800" b="0" i="0" u="none" strike="noStrike" cap="none">
              <a:solidFill>
                <a:srgbClr val="B7B7B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655927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orient="horz" pos="1204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Titulo e íconos">
  <p:cSld name="15 Titulo e ícono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subTitle" idx="1"/>
          </p:nvPr>
        </p:nvSpPr>
        <p:spPr>
          <a:xfrm>
            <a:off x="2590320" y="5063208"/>
            <a:ext cx="7011361" cy="93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Sans Light"/>
              <a:buNone/>
              <a:defRPr sz="24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IBM Plex Sans Light"/>
              <a:buNone/>
              <a:defRPr sz="2133" i="0" u="none" strike="noStrike" cap="none">
                <a:solidFill>
                  <a:srgbClr val="00B0F0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BM Plex Sans Light"/>
              <a:buNone/>
              <a:defRPr sz="2000" i="0" u="none" strike="noStrike" cap="none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0" name="Google Shape;80;p22"/>
          <p:cNvSpPr/>
          <p:nvPr/>
        </p:nvSpPr>
        <p:spPr>
          <a:xfrm>
            <a:off x="4441060" y="2335844"/>
            <a:ext cx="3309945" cy="2482459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5330631" y="3356615"/>
            <a:ext cx="1530771" cy="44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67" tIns="104367" rIns="104367" bIns="104367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800" b="0" i="0" u="none" strike="noStrike" cap="none">
                <a:solidFill>
                  <a:srgbClr val="B7B7B7"/>
                </a:solidFill>
                <a:latin typeface="IBM Plex Sans"/>
                <a:ea typeface="IBM Plex Sans"/>
                <a:cs typeface="IBM Plex Sans"/>
                <a:sym typeface="IBM Plex Sans"/>
              </a:rPr>
              <a:t>Ícono</a:t>
            </a:r>
            <a:endParaRPr sz="2800" b="0" i="0" u="none" strike="noStrike" cap="none">
              <a:solidFill>
                <a:srgbClr val="B7B7B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853915" y="698615"/>
            <a:ext cx="10484171" cy="110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9520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orient="horz" pos="1204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Titulo y frase">
  <p:cSld name="10 Titulo y frase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subTitle" idx="1"/>
          </p:nvPr>
        </p:nvSpPr>
        <p:spPr>
          <a:xfrm>
            <a:off x="853915" y="2548157"/>
            <a:ext cx="4981167" cy="366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17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subTitle" idx="2"/>
          </p:nvPr>
        </p:nvSpPr>
        <p:spPr>
          <a:xfrm>
            <a:off x="6356919" y="2548157"/>
            <a:ext cx="4981167" cy="366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17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853915" y="698615"/>
            <a:ext cx="10484171" cy="110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527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pos="2757">
          <p15:clr>
            <a:srgbClr val="FA7B17"/>
          </p15:clr>
        </p15:guide>
        <p15:guide id="6" pos="3003">
          <p15:clr>
            <a:srgbClr val="FA7B17"/>
          </p15:clr>
        </p15:guide>
        <p15:guide id="7" orient="horz" pos="1204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Imagen y titulo">
  <p:cSld name="11 Imagen y titulo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subTitle" idx="1"/>
          </p:nvPr>
        </p:nvSpPr>
        <p:spPr>
          <a:xfrm>
            <a:off x="853915" y="3205285"/>
            <a:ext cx="4981167" cy="301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IBM Plex Sans Light"/>
              <a:buNone/>
              <a:defRPr sz="4000" i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R="0" lvl="1" algn="ctr">
              <a:lnSpc>
                <a:spcPct val="90000"/>
              </a:lnSpc>
              <a:spcBef>
                <a:spcPts val="17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2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Roboto"/>
              <a:buNone/>
              <a:defRPr sz="2133" i="0" u="none" strike="noStrike" cap="none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20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/>
          <p:nvPr/>
        </p:nvSpPr>
        <p:spPr>
          <a:xfrm>
            <a:off x="6356920" y="1"/>
            <a:ext cx="5835081" cy="6895191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267" tIns="78267" rIns="78267" bIns="78267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4"/>
          <p:cNvSpPr txBox="1"/>
          <p:nvPr/>
        </p:nvSpPr>
        <p:spPr>
          <a:xfrm>
            <a:off x="7135378" y="3205284"/>
            <a:ext cx="4452607" cy="48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67" tIns="104367" rIns="104367" bIns="104367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800" b="0" i="0" u="none" strike="noStrike" cap="none">
                <a:solidFill>
                  <a:srgbClr val="B7B7B7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Espacio para imagen</a:t>
            </a:r>
            <a:endParaRPr sz="2800" b="0" i="0" u="none" strike="noStrike" cap="none">
              <a:solidFill>
                <a:srgbClr val="B7B7B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>
            <a:off x="853915" y="698615"/>
            <a:ext cx="4949416" cy="117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3300"/>
              <a:buFont typeface="IBM Plex Sans Medium"/>
              <a:buNone/>
              <a:defRPr sz="4400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Roboto"/>
              <a:buNone/>
              <a:defRPr sz="1467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2" name="Google Shape;92;p24"/>
          <p:cNvSpPr/>
          <p:nvPr/>
        </p:nvSpPr>
        <p:spPr>
          <a:xfrm>
            <a:off x="11785589" y="-7261"/>
            <a:ext cx="406412" cy="6865215"/>
          </a:xfrm>
          <a:prstGeom prst="rect">
            <a:avLst/>
          </a:prstGeom>
          <a:solidFill>
            <a:srgbClr val="08F491"/>
          </a:solidFill>
          <a:ln>
            <a:noFill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237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pos="2757">
          <p15:clr>
            <a:srgbClr val="FA7B17"/>
          </p15:clr>
        </p15:guide>
        <p15:guide id="6" pos="3003">
          <p15:clr>
            <a:srgbClr val="FA7B17"/>
          </p15:clr>
        </p15:guide>
        <p15:guide id="7" orient="horz" pos="1514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Imagen y titulo">
  <p:cSld name="12 Imagen y titulo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/>
          <p:nvPr/>
        </p:nvSpPr>
        <p:spPr>
          <a:xfrm>
            <a:off x="-16623" y="2548156"/>
            <a:ext cx="12225245" cy="4309915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267" tIns="78267" rIns="78267" bIns="78267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6"/>
          <p:cNvSpPr txBox="1"/>
          <p:nvPr/>
        </p:nvSpPr>
        <p:spPr>
          <a:xfrm>
            <a:off x="3793713" y="4537542"/>
            <a:ext cx="4452607" cy="484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367" tIns="104367" rIns="104367" bIns="104367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s-419" sz="2800" b="0" i="0" u="none" strike="noStrike" cap="none">
                <a:solidFill>
                  <a:srgbClr val="B7B7B7"/>
                </a:solidFill>
                <a:latin typeface="IBM Plex Sans"/>
                <a:ea typeface="IBM Plex Sans"/>
                <a:cs typeface="IBM Plex Sans"/>
                <a:sym typeface="IBM Plex Sans"/>
              </a:rPr>
              <a:t>Espacio para imagen</a:t>
            </a:r>
            <a:endParaRPr sz="2800" b="0" i="0" u="none" strike="noStrike" cap="none">
              <a:solidFill>
                <a:srgbClr val="B7B7B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1" name="Google Shape;101;p26"/>
          <p:cNvSpPr txBox="1">
            <a:spLocks noGrp="1"/>
          </p:cNvSpPr>
          <p:nvPr>
            <p:ph type="title"/>
          </p:nvPr>
        </p:nvSpPr>
        <p:spPr>
          <a:xfrm>
            <a:off x="853915" y="698615"/>
            <a:ext cx="10484171" cy="110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100"/>
              <a:buFont typeface="IBM Plex Sans Medium"/>
              <a:buNone/>
              <a:defRPr sz="5467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IBM Plex Sans"/>
              <a:buNone/>
              <a:defRPr sz="1467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8676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orient="horz" pos="120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Cita textual">
  <p:cSld name="16 Cita textual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1591098" y="1641643"/>
            <a:ext cx="9009805" cy="297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 Medium"/>
              <a:buNone/>
              <a:defRPr sz="5333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title" idx="2"/>
          </p:nvPr>
        </p:nvSpPr>
        <p:spPr>
          <a:xfrm>
            <a:off x="1591098" y="5476613"/>
            <a:ext cx="9009805" cy="31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IBM Plex Sans Light"/>
              <a:buNone/>
              <a:defRPr sz="2267" b="0" u="none" strike="noStrike" cap="none">
                <a:solidFill>
                  <a:srgbClr val="434343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05" name="Google Shape;105;p27" descr="quotes-green.png"/>
          <p:cNvPicPr preferRelativeResize="0"/>
          <p:nvPr/>
        </p:nvPicPr>
        <p:blipFill rotWithShape="1">
          <a:blip r:embed="rId2">
            <a:alphaModFix/>
          </a:blip>
          <a:srcRect t="357" b="357"/>
          <a:stretch/>
        </p:blipFill>
        <p:spPr>
          <a:xfrm>
            <a:off x="9415801" y="5126446"/>
            <a:ext cx="1410127" cy="1213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7" descr="quotes-gree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1366074" y="518196"/>
            <a:ext cx="1410127" cy="122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9579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Código">
  <p:cSld name="17 Código">
    <p:bg>
      <p:bgPr>
        <a:solidFill>
          <a:srgbClr val="FF00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/>
        </p:nvSpPr>
        <p:spPr>
          <a:xfrm>
            <a:off x="440218" y="335650"/>
            <a:ext cx="11311564" cy="6202085"/>
          </a:xfrm>
          <a:prstGeom prst="roundRect">
            <a:avLst>
              <a:gd name="adj" fmla="val 1537"/>
            </a:avLst>
          </a:prstGeom>
          <a:solidFill>
            <a:srgbClr val="0A0C0F"/>
          </a:solidFill>
          <a:ln>
            <a:noFill/>
          </a:ln>
          <a:effectLst>
            <a:outerShdw blurRad="171450" dist="38100" dir="8340000" algn="bl" rotWithShape="0">
              <a:srgbClr val="000000">
                <a:alpha val="29411"/>
              </a:srgbClr>
            </a:outerShdw>
          </a:effectLst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456157" y="335650"/>
            <a:ext cx="4068233" cy="314055"/>
          </a:xfrm>
          <a:prstGeom prst="round2SameRect">
            <a:avLst>
              <a:gd name="adj1" fmla="val 22702"/>
              <a:gd name="adj2" fmla="val 0"/>
            </a:avLst>
          </a:prstGeom>
          <a:solidFill>
            <a:srgbClr val="08F491"/>
          </a:solidFill>
          <a:ln>
            <a:noFill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8"/>
          <p:cNvSpPr/>
          <p:nvPr/>
        </p:nvSpPr>
        <p:spPr>
          <a:xfrm>
            <a:off x="4524484" y="335650"/>
            <a:ext cx="4068233" cy="314055"/>
          </a:xfrm>
          <a:prstGeom prst="round2SameRect">
            <a:avLst>
              <a:gd name="adj1" fmla="val 22702"/>
              <a:gd name="adj2" fmla="val 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104367" tIns="104367" rIns="104367" bIns="1043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8"/>
          <p:cNvSpPr txBox="1">
            <a:spLocks noGrp="1"/>
          </p:cNvSpPr>
          <p:nvPr>
            <p:ph type="title"/>
          </p:nvPr>
        </p:nvSpPr>
        <p:spPr>
          <a:xfrm>
            <a:off x="977837" y="1103089"/>
            <a:ext cx="10236513" cy="4795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 Mono"/>
              <a:buNone/>
              <a:defRPr sz="3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4533"/>
            </a:lvl9pPr>
          </a:lstStyle>
          <a:p>
            <a:endParaRPr/>
          </a:p>
        </p:txBody>
      </p:sp>
      <p:cxnSp>
        <p:nvCxnSpPr>
          <p:cNvPr id="112" name="Google Shape;112;p28"/>
          <p:cNvCxnSpPr/>
          <p:nvPr/>
        </p:nvCxnSpPr>
        <p:spPr>
          <a:xfrm>
            <a:off x="440406" y="640436"/>
            <a:ext cx="11311191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7948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  <p15:guide id="5" pos="202">
          <p15:clr>
            <a:srgbClr val="FA7B17"/>
          </p15:clr>
        </p15:guide>
        <p15:guide id="6" pos="5558">
          <p15:clr>
            <a:srgbClr val="FA7B17"/>
          </p15:clr>
        </p15:guide>
        <p15:guide id="7" orient="horz" pos="151">
          <p15:clr>
            <a:srgbClr val="FA7B17"/>
          </p15:clr>
        </p15:guide>
        <p15:guide id="8" orient="horz" pos="3089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ítulo de tema 1 1">
  <p:cSld name="5 Título de tema 1 1">
    <p:bg>
      <p:bgPr>
        <a:solidFill>
          <a:srgbClr val="0A0C0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>
            <a:spLocks noGrp="1"/>
          </p:cNvSpPr>
          <p:nvPr>
            <p:ph type="ctrTitle"/>
          </p:nvPr>
        </p:nvSpPr>
        <p:spPr>
          <a:xfrm>
            <a:off x="1349417" y="1802838"/>
            <a:ext cx="9493167" cy="325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4700"/>
              <a:buFont typeface="IBM Plex Sans Medium"/>
              <a:buNone/>
              <a:defRPr sz="6267" b="0" i="0" u="none" strike="noStrike" cap="none">
                <a:solidFill>
                  <a:srgbClr val="08F49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F491"/>
              </a:buClr>
              <a:buSzPts val="900"/>
              <a:buFont typeface="IBM Plex Sans"/>
              <a:buNone/>
              <a:defRPr sz="1467">
                <a:solidFill>
                  <a:srgbClr val="08F49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2065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Cita textual 1">
  <p:cSld name="16 Cita textual 1">
    <p:bg>
      <p:bgPr>
        <a:solidFill>
          <a:srgbClr val="0BF49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>
            <a:spLocks noGrp="1"/>
          </p:cNvSpPr>
          <p:nvPr>
            <p:ph type="title"/>
          </p:nvPr>
        </p:nvSpPr>
        <p:spPr>
          <a:xfrm>
            <a:off x="1591098" y="1641643"/>
            <a:ext cx="9009805" cy="297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 Medium"/>
              <a:buNone/>
              <a:defRPr sz="5333" b="0" i="0" u="none" strike="noStrike" cap="none">
                <a:solidFill>
                  <a:srgbClr val="0A0C0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4000"/>
              <a:buFont typeface="IBM Plex Sans"/>
              <a:buNone/>
              <a:defRPr sz="5333">
                <a:solidFill>
                  <a:srgbClr val="0A0C0F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title" idx="2"/>
          </p:nvPr>
        </p:nvSpPr>
        <p:spPr>
          <a:xfrm>
            <a:off x="1591098" y="5476613"/>
            <a:ext cx="9009805" cy="31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ctr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0C0F"/>
              </a:buClr>
              <a:buSzPts val="1700"/>
              <a:buFont typeface="IBM Plex Sans Light"/>
              <a:buNone/>
              <a:defRPr sz="2267" b="0" u="none" strike="noStrike" cap="none">
                <a:solidFill>
                  <a:srgbClr val="0A0C0F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IBM Plex Sans"/>
              <a:buNone/>
              <a:defRPr sz="4133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18" name="Google Shape;118;p30" descr="quotes-green.png"/>
          <p:cNvPicPr preferRelativeResize="0"/>
          <p:nvPr/>
        </p:nvPicPr>
        <p:blipFill rotWithShape="1">
          <a:blip r:embed="rId2">
            <a:alphaModFix/>
          </a:blip>
          <a:srcRect t="357" b="357"/>
          <a:stretch/>
        </p:blipFill>
        <p:spPr>
          <a:xfrm>
            <a:off x="9415801" y="5126446"/>
            <a:ext cx="1410127" cy="1213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0" descr="quotes-green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1366074" y="518196"/>
            <a:ext cx="1410127" cy="12221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752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">
          <p15:clr>
            <a:srgbClr val="FA7B17"/>
          </p15:clr>
        </p15:guide>
        <p15:guide id="2" orient="horz" pos="303">
          <p15:clr>
            <a:srgbClr val="FA7B17"/>
          </p15:clr>
        </p15:guide>
        <p15:guide id="3" pos="5357">
          <p15:clr>
            <a:srgbClr val="FA7B17"/>
          </p15:clr>
        </p15:guide>
        <p15:guide id="4" orient="horz" pos="2937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0DD8B-A5DF-4D03-AAD9-26462B32F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55D21-6F98-4084-94EA-03641B770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ED54C-1EDD-45B9-804D-4F47827F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9DD-921C-47CE-B301-7154BD023913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CD6EA9-5BBF-47BD-850C-2076DD9E7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DC8A1-7A82-48AF-92D6-7938B9E6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6548-E779-47D8-A7FC-E5883FCC41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93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919033" y="706036"/>
            <a:ext cx="8114801" cy="1411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Lato Black"/>
              <a:buNone/>
              <a:defRPr sz="3200" b="1" i="0" u="none" strike="noStrike" cap="none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919034" y="2387461"/>
            <a:ext cx="10353805" cy="376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700" tIns="58700" rIns="58700" bIns="58700" anchor="t" anchorCtr="0">
            <a:no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58EC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58ECD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3405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affairs.com/180092/apt/lamehug-first-ai-powered-malware-linked-to-russias-apt28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ndowscentral.com/microsoft/microsoft-copilots-own-default-configuration-exposed-users-to-the-first-ever-zero-click-ai-attack-but-there-was-no-data-breac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radar.com/pro/security/the-biggest-heist-of-all-time-involved-over-usd14bn-of-crypto-being-stolen-and-it-went-undetected-for-five-yea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4"/>
          <p:cNvSpPr txBox="1">
            <a:spLocks noGrp="1"/>
          </p:cNvSpPr>
          <p:nvPr>
            <p:ph type="ctrTitle"/>
          </p:nvPr>
        </p:nvSpPr>
        <p:spPr>
          <a:xfrm>
            <a:off x="1349416" y="1358665"/>
            <a:ext cx="9493200" cy="3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s-419"/>
              <a:t>Panorama del hacking ético en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52"/>
          <a:stretch/>
        </p:blipFill>
        <p:spPr>
          <a:xfrm>
            <a:off x="2514601" y="834570"/>
            <a:ext cx="7786167" cy="530497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BF71353-5947-7675-1B97-CC4096A29FDB}"/>
              </a:ext>
            </a:extLst>
          </p:cNvPr>
          <p:cNvSpPr/>
          <p:nvPr/>
        </p:nvSpPr>
        <p:spPr>
          <a:xfrm>
            <a:off x="522513" y="457806"/>
            <a:ext cx="774096" cy="5903685"/>
          </a:xfrm>
          <a:prstGeom prst="round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1219170">
              <a:buClr>
                <a:srgbClr val="000000"/>
              </a:buClr>
            </a:pPr>
            <a:r>
              <a:rPr lang="es-MX" sz="1867" b="1" kern="0" dirty="0">
                <a:solidFill>
                  <a:srgbClr val="FFFFFF"/>
                </a:solidFill>
                <a:latin typeface="Arial"/>
                <a:sym typeface="Arial"/>
              </a:rPr>
              <a:t>IN THE WILD (da clic para leer la nota)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3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7656" y="805542"/>
            <a:ext cx="9211733" cy="495034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C9ADCFC-11E3-D808-6BD0-F58896DAB1A6}"/>
              </a:ext>
            </a:extLst>
          </p:cNvPr>
          <p:cNvSpPr/>
          <p:nvPr/>
        </p:nvSpPr>
        <p:spPr>
          <a:xfrm>
            <a:off x="522513" y="457806"/>
            <a:ext cx="774096" cy="5903685"/>
          </a:xfrm>
          <a:prstGeom prst="round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1219170">
              <a:buClr>
                <a:srgbClr val="000000"/>
              </a:buClr>
            </a:pPr>
            <a:r>
              <a:rPr lang="es-MX" sz="1867" b="1" kern="0" dirty="0">
                <a:solidFill>
                  <a:srgbClr val="FFFFFF"/>
                </a:solidFill>
                <a:latin typeface="Arial"/>
                <a:sym typeface="Arial"/>
              </a:rPr>
              <a:t>IN THE WILD (da clic para leer la nota)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7">
            <a:hlinkClick r:id="rId3"/>
          </p:cNvPr>
          <p:cNvPicPr preferRelativeResize="0"/>
          <p:nvPr/>
        </p:nvPicPr>
        <p:blipFill>
          <a:blip r:embed="rId4">
            <a:alphaModFix/>
          </a:blip>
          <a:srcRect b="13686"/>
          <a:stretch>
            <a:fillRect/>
          </a:stretch>
        </p:blipFill>
        <p:spPr>
          <a:xfrm>
            <a:off x="2122716" y="696685"/>
            <a:ext cx="9400080" cy="538782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947AFCB-F965-E093-C5AE-5DEEFF0EA32A}"/>
              </a:ext>
            </a:extLst>
          </p:cNvPr>
          <p:cNvSpPr/>
          <p:nvPr/>
        </p:nvSpPr>
        <p:spPr>
          <a:xfrm>
            <a:off x="522513" y="457806"/>
            <a:ext cx="774096" cy="5903685"/>
          </a:xfrm>
          <a:prstGeom prst="round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1219170">
              <a:buClr>
                <a:srgbClr val="000000"/>
              </a:buClr>
            </a:pPr>
            <a:r>
              <a:rPr lang="es-MX" sz="1867" b="1" kern="0" dirty="0">
                <a:solidFill>
                  <a:srgbClr val="FFFFFF"/>
                </a:solidFill>
                <a:latin typeface="Arial"/>
                <a:sym typeface="Arial"/>
              </a:rPr>
              <a:t>IN THE WILD (da clic para leer la nota)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F49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1692697" y="2149643"/>
            <a:ext cx="9010000" cy="2976000"/>
          </a:xfrm>
          <a:prstGeom prst="rect">
            <a:avLst/>
          </a:prstGeom>
        </p:spPr>
        <p:txBody>
          <a:bodyPr spcFirstLastPara="1" wrap="square" lIns="78267" tIns="78267" rIns="78267" bIns="78267" anchor="ctr" anchorCtr="0">
            <a:noAutofit/>
          </a:bodyPr>
          <a:lstStyle/>
          <a:p>
            <a:r>
              <a:rPr lang="es-419" dirty="0"/>
              <a:t>El hacking ético es el modo de convertir la curiosidad en defensa activa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title"/>
          </p:nvPr>
        </p:nvSpPr>
        <p:spPr>
          <a:xfrm>
            <a:off x="1591097" y="2039209"/>
            <a:ext cx="9010000" cy="29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267" tIns="78267" rIns="78267" bIns="78267" anchor="ctr" anchorCtr="0">
            <a:noAutofit/>
          </a:bodyPr>
          <a:lstStyle/>
          <a:p>
            <a:pPr>
              <a:buSzPts val="3400"/>
            </a:pPr>
            <a:r>
              <a:rPr lang="es-419" sz="4933"/>
              <a:t>Los servicios de Ethical Hacking tienen como objetivo la medición y remediación del impacto de vulnerabilidades en un sistema antes de que un atacante real lo haga.</a:t>
            </a:r>
            <a:endParaRPr sz="493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>
            <a:spLocks noGrp="1"/>
          </p:cNvSpPr>
          <p:nvPr>
            <p:ph type="ctrTitle"/>
          </p:nvPr>
        </p:nvSpPr>
        <p:spPr>
          <a:xfrm>
            <a:off x="1349400" y="1802800"/>
            <a:ext cx="9493200" cy="3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s-419" dirty="0"/>
              <a:t>Marco ético y legal del hacking ético y construcción de un entorno de pruebas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086" y="1158427"/>
            <a:ext cx="8916893" cy="43282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8DB197C-9D6F-236A-DE04-F1CFC7F0FFD1}"/>
              </a:ext>
            </a:extLst>
          </p:cNvPr>
          <p:cNvSpPr/>
          <p:nvPr/>
        </p:nvSpPr>
        <p:spPr>
          <a:xfrm>
            <a:off x="522513" y="457806"/>
            <a:ext cx="774096" cy="5903685"/>
          </a:xfrm>
          <a:prstGeom prst="roundRect">
            <a:avLst/>
          </a:prstGeom>
          <a:solidFill>
            <a:srgbClr val="FF00FF"/>
          </a:solidFill>
          <a:ln>
            <a:solidFill>
              <a:srgbClr val="FF00FF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 defTabSz="1219170">
              <a:buClr>
                <a:srgbClr val="000000"/>
              </a:buClr>
            </a:pPr>
            <a:r>
              <a:rPr lang="es-MX" sz="1867" b="1" kern="0" dirty="0">
                <a:solidFill>
                  <a:srgbClr val="FFFFFF"/>
                </a:solidFill>
                <a:latin typeface="Arial"/>
                <a:sym typeface="Arial"/>
              </a:rPr>
              <a:t>IN THE WILD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>
            <a:spLocks noGrp="1"/>
          </p:cNvSpPr>
          <p:nvPr>
            <p:ph type="title"/>
          </p:nvPr>
        </p:nvSpPr>
        <p:spPr>
          <a:xfrm>
            <a:off x="1591097" y="2039209"/>
            <a:ext cx="9010000" cy="29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8267" tIns="78267" rIns="78267" bIns="78267" anchor="ctr" anchorCtr="0">
            <a:noAutofit/>
          </a:bodyPr>
          <a:lstStyle/>
          <a:p>
            <a:pPr>
              <a:buSzPts val="3400"/>
            </a:pPr>
            <a:r>
              <a:rPr lang="es-419" sz="4933"/>
              <a:t>Todo acceso no autorizado a un sistema de terceros para conocer o manipular la información o recursos existentes, sin un consentimiento explícito es considerado ilegal</a:t>
            </a:r>
            <a:endParaRPr sz="4933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2"/>
          <p:cNvSpPr txBox="1">
            <a:spLocks noGrp="1"/>
          </p:cNvSpPr>
          <p:nvPr>
            <p:ph type="title"/>
          </p:nvPr>
        </p:nvSpPr>
        <p:spPr>
          <a:xfrm>
            <a:off x="853915" y="2220678"/>
            <a:ext cx="3597199" cy="262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900"/>
            </a:pPr>
            <a:r>
              <a:rPr lang="es-419">
                <a:solidFill>
                  <a:schemeClr val="dk1"/>
                </a:solidFill>
              </a:rPr>
              <a:t>Conceptos</a:t>
            </a:r>
            <a:endParaRPr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SzPts val="900"/>
            </a:pPr>
            <a:r>
              <a:rPr lang="es-419">
                <a:solidFill>
                  <a:schemeClr val="dk1"/>
                </a:solidFill>
              </a:rPr>
              <a:t>Legales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p42"/>
          <p:cNvSpPr txBox="1">
            <a:spLocks noGrp="1"/>
          </p:cNvSpPr>
          <p:nvPr>
            <p:ph type="subTitle" idx="1"/>
          </p:nvPr>
        </p:nvSpPr>
        <p:spPr>
          <a:xfrm>
            <a:off x="4696530" y="640436"/>
            <a:ext cx="6641556" cy="5577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609585" indent="-558786">
              <a:buChar char="●"/>
            </a:pPr>
            <a:r>
              <a:rPr lang="es-419" dirty="0"/>
              <a:t>Reglas del Engagement</a:t>
            </a:r>
            <a:endParaRPr dirty="0"/>
          </a:p>
          <a:p>
            <a:pPr marL="609585" indent="-558786">
              <a:buChar char="●"/>
            </a:pPr>
            <a:r>
              <a:rPr lang="es-419" dirty="0"/>
              <a:t>Lista de Objetivos y Activos en el Alcance</a:t>
            </a:r>
            <a:endParaRPr dirty="0"/>
          </a:p>
          <a:p>
            <a:pPr marL="609585" indent="-558786">
              <a:buChar char="●"/>
            </a:pPr>
            <a:r>
              <a:rPr lang="es-419" dirty="0"/>
              <a:t>Contratos</a:t>
            </a:r>
            <a:endParaRPr dirty="0"/>
          </a:p>
          <a:p>
            <a:pPr marL="609585" indent="-558786">
              <a:buChar char="●"/>
            </a:pPr>
            <a:r>
              <a:rPr lang="es-419" dirty="0" err="1"/>
              <a:t>Disclaimers</a:t>
            </a:r>
            <a:endParaRPr dirty="0"/>
          </a:p>
          <a:p>
            <a:pPr marL="609585" indent="-558786">
              <a:buChar char="●"/>
            </a:pPr>
            <a:r>
              <a:rPr lang="es-419" dirty="0"/>
              <a:t>Cumplimiento y riesgo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Office PowerPoint</Application>
  <PresentationFormat>Panorámica</PresentationFormat>
  <Paragraphs>33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20" baseType="lpstr">
      <vt:lpstr>Aptos</vt:lpstr>
      <vt:lpstr>Arial</vt:lpstr>
      <vt:lpstr>IBM Plex Sans</vt:lpstr>
      <vt:lpstr>IBM Plex Sans Light</vt:lpstr>
      <vt:lpstr>IBM Plex Sans Medium</vt:lpstr>
      <vt:lpstr>Lato Black</vt:lpstr>
      <vt:lpstr>Lato Light</vt:lpstr>
      <vt:lpstr>Roboto</vt:lpstr>
      <vt:lpstr>Roboto Mono</vt:lpstr>
      <vt:lpstr>1_Tema de Office</vt:lpstr>
      <vt:lpstr>Panorama del hacking ético en 2025</vt:lpstr>
      <vt:lpstr>Presentación de PowerPoint</vt:lpstr>
      <vt:lpstr>Presentación de PowerPoint</vt:lpstr>
      <vt:lpstr>Presentación de PowerPoint</vt:lpstr>
      <vt:lpstr>El hacking ético es el modo de convertir la curiosidad en defensa activa</vt:lpstr>
      <vt:lpstr>Los servicios de Ethical Hacking tienen como objetivo la medición y remediación del impacto de vulnerabilidades en un sistema antes de que un atacante real lo haga.</vt:lpstr>
      <vt:lpstr>Marco ético y legal del hacking ético y construcción de un entorno de pruebas</vt:lpstr>
      <vt:lpstr>Presentación de PowerPoint</vt:lpstr>
      <vt:lpstr>Todo acceso no autorizado a un sistema de terceros para conocer o manipular la información o recursos existentes, sin un consentimiento explícito es considerado ilegal</vt:lpstr>
      <vt:lpstr>Conceptos Legales</vt:lpstr>
    </vt:vector>
  </TitlesOfParts>
  <Company>ESET spol. s 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MX Team</dc:creator>
  <cp:lastModifiedBy>MX Team</cp:lastModifiedBy>
  <cp:revision>1</cp:revision>
  <dcterms:created xsi:type="dcterms:W3CDTF">2025-12-12T06:11:14Z</dcterms:created>
  <dcterms:modified xsi:type="dcterms:W3CDTF">2025-12-12T06:19:47Z</dcterms:modified>
</cp:coreProperties>
</file>